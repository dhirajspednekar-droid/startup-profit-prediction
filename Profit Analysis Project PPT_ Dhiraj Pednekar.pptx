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78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3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83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9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5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1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0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4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2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9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00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411" y="1567253"/>
            <a:ext cx="7543800" cy="2333040"/>
          </a:xfrm>
        </p:spPr>
        <p:txBody>
          <a:bodyPr/>
          <a:lstStyle/>
          <a:p>
            <a:r>
              <a:rPr dirty="0"/>
              <a:t>PRDA-01 Profit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4574635"/>
            <a:ext cx="7543800" cy="162820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Multiple Linear Regression &amp; Power BI Dashboard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Prepared By: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Dhiraj Pednekar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Role: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Data Analyst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Tools Used: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SQL | Power BI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|python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Academic Year: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2025–2026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startup expenditure data</a:t>
            </a:r>
          </a:p>
          <a:p>
            <a:pPr marL="0" indent="0">
              <a:buNone/>
            </a:pPr>
            <a:r>
              <a:rPr dirty="0"/>
              <a:t>• Identify factors affecting profit</a:t>
            </a:r>
          </a:p>
          <a:p>
            <a:pPr marL="0" indent="0">
              <a:buNone/>
            </a:pPr>
            <a:r>
              <a:rPr dirty="0"/>
              <a:t>• Build a regression model</a:t>
            </a:r>
          </a:p>
          <a:p>
            <a:pPr marL="0" indent="0">
              <a:buNone/>
            </a:pPr>
            <a:r>
              <a:rPr dirty="0"/>
              <a:t>• Predict future profit</a:t>
            </a:r>
          </a:p>
          <a:p>
            <a:pPr marL="0" indent="0">
              <a:buNone/>
            </a:pPr>
            <a:r>
              <a:rPr dirty="0"/>
              <a:t>• Visualize insights using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50 Startup Records</a:t>
            </a:r>
          </a:p>
          <a:p>
            <a:pPr marL="0" indent="0">
              <a:buNone/>
            </a:pPr>
            <a:r>
              <a:rPr dirty="0"/>
              <a:t>• States: California, Florida, New York</a:t>
            </a:r>
          </a:p>
          <a:p>
            <a:pPr marL="0" indent="0">
              <a:buNone/>
            </a:pPr>
            <a:r>
              <a:rPr dirty="0"/>
              <a:t>• Features: RD</a:t>
            </a:r>
            <a:r>
              <a:rPr lang="en-US" dirty="0"/>
              <a:t> </a:t>
            </a:r>
            <a:r>
              <a:rPr dirty="0"/>
              <a:t>Spend, Administration, Marketing</a:t>
            </a:r>
            <a:r>
              <a:rPr lang="en-US" dirty="0"/>
              <a:t> </a:t>
            </a:r>
            <a:r>
              <a:rPr dirty="0"/>
              <a:t>Spend, State</a:t>
            </a:r>
          </a:p>
          <a:p>
            <a:pPr marL="0" indent="0">
              <a:buNone/>
            </a:pPr>
            <a:r>
              <a:rPr dirty="0"/>
              <a:t>• Target: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883" y="241070"/>
            <a:ext cx="8229600" cy="1097280"/>
          </a:xfrm>
        </p:spPr>
        <p:txBody>
          <a:bodyPr/>
          <a:lstStyle/>
          <a:p>
            <a:r>
              <a:rPr dirty="0"/>
              <a:t>Data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02" y="2119746"/>
            <a:ext cx="4542904" cy="2842953"/>
          </a:xfrm>
        </p:spPr>
        <p:txBody>
          <a:bodyPr/>
          <a:lstStyle/>
          <a:p>
            <a:r>
              <a:rPr dirty="0"/>
              <a:t>SQL Query Used:</a:t>
            </a:r>
          </a:p>
          <a:p>
            <a:r>
              <a:rPr dirty="0"/>
              <a:t>SELECT * FROM startup;</a:t>
            </a:r>
            <a:endParaRPr lang="en-US" dirty="0"/>
          </a:p>
          <a:p>
            <a:r>
              <a:rPr dirty="0"/>
              <a:t>Data extracted from MySQL and exported to CSV.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29928-7B2C-FB16-F821-6746C44FF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25" y="1571106"/>
            <a:ext cx="4166148" cy="1097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26913-624A-E3E6-B98C-DE1FA2666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925" y="2552009"/>
            <a:ext cx="416614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57" y="-30148"/>
            <a:ext cx="7543800" cy="1450757"/>
          </a:xfrm>
        </p:spPr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5870"/>
            <a:ext cx="4289367" cy="4525963"/>
          </a:xfrm>
        </p:spPr>
        <p:txBody>
          <a:bodyPr/>
          <a:lstStyle/>
          <a:p>
            <a:pPr marL="0" indent="0" algn="just">
              <a:buNone/>
            </a:pPr>
            <a:r>
              <a:rPr dirty="0"/>
              <a:t>• Missing value check</a:t>
            </a:r>
          </a:p>
          <a:p>
            <a:pPr marL="0" indent="0" algn="just">
              <a:buNone/>
            </a:pPr>
            <a:r>
              <a:rPr dirty="0"/>
              <a:t>• Data type verification</a:t>
            </a:r>
          </a:p>
          <a:p>
            <a:pPr marL="0" indent="0" algn="just">
              <a:buNone/>
            </a:pPr>
            <a:r>
              <a:rPr dirty="0"/>
              <a:t>• One-Hot Encoding of State column</a:t>
            </a:r>
          </a:p>
          <a:p>
            <a:pPr marL="0" indent="0" algn="just">
              <a:buNone/>
            </a:pPr>
            <a:r>
              <a:rPr dirty="0"/>
              <a:t>• Feature and Target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E3430-C409-4FB1-FD1E-8F05D42D3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1185862"/>
            <a:ext cx="3790950" cy="149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4F871-B55B-D709-2EC3-285342D7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0" y="2860878"/>
            <a:ext cx="3932266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656" y="149443"/>
            <a:ext cx="7543800" cy="1450757"/>
          </a:xfrm>
        </p:spPr>
        <p:txBody>
          <a:bodyPr/>
          <a:lstStyle/>
          <a:p>
            <a:r>
              <a:rPr dirty="0"/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59" y="1887148"/>
            <a:ext cx="4114800" cy="4525963"/>
          </a:xfrm>
        </p:spPr>
        <p:txBody>
          <a:bodyPr>
            <a:normAutofit/>
          </a:bodyPr>
          <a:lstStyle/>
          <a:p>
            <a:r>
              <a:rPr dirty="0"/>
              <a:t>Model Used: Multiple Linear Regression</a:t>
            </a:r>
          </a:p>
          <a:p>
            <a:endParaRPr dirty="0"/>
          </a:p>
          <a:p>
            <a:r>
              <a:rPr dirty="0"/>
              <a:t>Profit = 54028.04 + (0.8056 × RD</a:t>
            </a:r>
            <a:r>
              <a:rPr lang="en-US" dirty="0"/>
              <a:t>-</a:t>
            </a:r>
            <a:r>
              <a:rPr dirty="0"/>
              <a:t>Spend) - (0.0688 × Administration) + (0.0299 × Marketing</a:t>
            </a:r>
            <a:r>
              <a:rPr lang="en-US" dirty="0"/>
              <a:t> </a:t>
            </a:r>
            <a:r>
              <a:rPr dirty="0"/>
              <a:t>Spend)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EE46C-E2BB-AA54-259F-1E32081A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25" y="1774025"/>
            <a:ext cx="4328852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1"/>
            <a:ext cx="7543801" cy="4023360"/>
          </a:xfrm>
        </p:spPr>
        <p:txBody>
          <a:bodyPr/>
          <a:lstStyle/>
          <a:p>
            <a:r>
              <a:rPr dirty="0"/>
              <a:t>R² Score = 0.8987</a:t>
            </a:r>
          </a:p>
          <a:p>
            <a:endParaRPr dirty="0"/>
          </a:p>
          <a:p>
            <a:r>
              <a:rPr dirty="0"/>
              <a:t>The model explains approximately 89.87% of the variation in Profit.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6E95A-78F7-3F95-CE82-4C018D0EA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3429000"/>
            <a:ext cx="45720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Predicted Profit for Record 1: 70,935.54</a:t>
            </a:r>
          </a:p>
          <a:p>
            <a:endParaRPr/>
          </a:p>
          <a:p>
            <a:r>
              <a:t>Predicted Profit for Record 2: 70,768.48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1AD2A-968D-688C-E503-52CC3447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0123"/>
            <a:ext cx="9144000" cy="3111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276BA-50FD-64D0-52AF-ABA9BCA9E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337"/>
            <a:ext cx="9144000" cy="52341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2CB149F-C1FF-5760-CE40-2C7E3B10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7" y="-123420"/>
            <a:ext cx="7543800" cy="1450757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49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R&amp;D Spend has the strongest impact on Profit.</a:t>
            </a:r>
          </a:p>
          <a:p>
            <a:pPr marL="0" indent="0">
              <a:buNone/>
            </a:pPr>
            <a:r>
              <a:rPr dirty="0"/>
              <a:t>• Marketing Spend positively affects Profit.</a:t>
            </a:r>
          </a:p>
          <a:p>
            <a:pPr marL="0" indent="0">
              <a:buNone/>
            </a:pPr>
            <a:r>
              <a:rPr dirty="0"/>
              <a:t>• Administration has minimal impact on Profit.</a:t>
            </a:r>
          </a:p>
          <a:p>
            <a:pPr marL="0" indent="0">
              <a:buNone/>
            </a:pPr>
            <a:r>
              <a:rPr dirty="0"/>
              <a:t>• Higher R&amp;D investment increases profitability.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Increase investment in R&amp;D activities.</a:t>
            </a:r>
          </a:p>
          <a:p>
            <a:pPr marL="0" indent="0">
              <a:buNone/>
            </a:pPr>
            <a:r>
              <a:rPr dirty="0"/>
              <a:t>• Continue effective marketing strategies.</a:t>
            </a:r>
          </a:p>
          <a:p>
            <a:pPr marL="0" indent="0">
              <a:buNone/>
            </a:pPr>
            <a:r>
              <a:rPr dirty="0"/>
              <a:t>• Optimize administrative expenses.</a:t>
            </a:r>
          </a:p>
          <a:p>
            <a:pPr marL="0" indent="0">
              <a:buNone/>
            </a:pPr>
            <a:r>
              <a:rPr dirty="0"/>
              <a:t>• Focus on innovation-driven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confirms that R&amp;D Spend is the most influential factor affecting Profit. The regression model achieved good accuracy and can support future business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</TotalTime>
  <Words>296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PRDA-01 Profit Analysis</vt:lpstr>
      <vt:lpstr>Project Objective</vt:lpstr>
      <vt:lpstr>Dataset Overview</vt:lpstr>
      <vt:lpstr>Data Extraction</vt:lpstr>
      <vt:lpstr>Data Preprocessing</vt:lpstr>
      <vt:lpstr>Regression Analysis</vt:lpstr>
      <vt:lpstr>Model Performance</vt:lpstr>
      <vt:lpstr>Profit Prediction</vt:lpstr>
      <vt:lpstr>Dashboard</vt:lpstr>
      <vt:lpstr>Dashboard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jain tanu</dc:creator>
  <cp:keywords/>
  <dc:description>generated using python-pptx</dc:description>
  <cp:lastModifiedBy>tanu jain</cp:lastModifiedBy>
  <cp:revision>6</cp:revision>
  <dcterms:created xsi:type="dcterms:W3CDTF">2013-01-27T09:14:16Z</dcterms:created>
  <dcterms:modified xsi:type="dcterms:W3CDTF">2026-06-02T07:34:56Z</dcterms:modified>
  <cp:category/>
</cp:coreProperties>
</file>